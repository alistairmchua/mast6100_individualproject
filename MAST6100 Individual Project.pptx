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34" autoAdjust="0"/>
    <p:restoredTop sz="94660"/>
  </p:normalViewPr>
  <p:slideViewPr>
    <p:cSldViewPr snapToGrid="0">
      <p:cViewPr>
        <p:scale>
          <a:sx n="90" d="100"/>
          <a:sy n="90" d="100"/>
        </p:scale>
        <p:origin x="677" y="-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485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30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912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9415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381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242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5426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5329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371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55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9660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1B8B-B9D8-412B-B733-C087B6ACC1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455A45B-3B96-4EE7-B6DD-F791BB9CB85C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398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lose up of man finger on stock market charts">
            <a:extLst>
              <a:ext uri="{FF2B5EF4-FFF2-40B4-BE49-F238E27FC236}">
                <a16:creationId xmlns:a16="http://schemas.microsoft.com/office/drawing/2014/main" id="{C2C5F822-C346-3AC4-CA4B-F855D0EA24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13" r="-1" b="5315"/>
          <a:stretch>
            <a:fillRect/>
          </a:stretch>
        </p:blipFill>
        <p:spPr>
          <a:xfrm>
            <a:off x="2" y="10"/>
            <a:ext cx="12191695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A0FFA78-985C-4F50-B21A-77045C7DF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A67122-10B6-30AD-471D-EFCD24DED58F}"/>
              </a:ext>
            </a:extLst>
          </p:cNvPr>
          <p:cNvSpPr txBox="1"/>
          <p:nvPr/>
        </p:nvSpPr>
        <p:spPr>
          <a:xfrm>
            <a:off x="4065511" y="3236470"/>
            <a:ext cx="6832500" cy="1252601"/>
          </a:xfrm>
          <a:prstGeom prst="rect">
            <a:avLst/>
          </a:prstGeom>
        </p:spPr>
        <p:txBody>
          <a:bodyPr vert="horz" lIns="91440" tIns="45720" rIns="91440" bIns="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cap="all" dirty="0">
                <a:solidFill>
                  <a:srgbClr val="FFFFFE"/>
                </a:solidFill>
                <a:latin typeface="+mj-lt"/>
                <a:ea typeface="+mj-ea"/>
                <a:cs typeface="+mj-cs"/>
              </a:rPr>
              <a:t>MAST6100 Project: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cap="all" dirty="0">
                <a:solidFill>
                  <a:srgbClr val="FFFFFE"/>
                </a:solidFill>
                <a:latin typeface="+mj-lt"/>
                <a:ea typeface="+mj-ea"/>
                <a:cs typeface="+mj-cs"/>
              </a:rPr>
              <a:t>Predicting Mobile Phone Prices using 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451C3A-481A-7CF1-99DB-B7E5FD5C8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5511" y="4669144"/>
            <a:ext cx="6832499" cy="716529"/>
          </a:xfrm>
        </p:spPr>
        <p:txBody>
          <a:bodyPr vert="horz" lIns="91440" tIns="91440" rIns="91440" bIns="91440" rtlCol="0">
            <a:normAutofit/>
          </a:bodyPr>
          <a:lstStyle/>
          <a:p>
            <a:r>
              <a:rPr lang="en-US" sz="1600" dirty="0">
                <a:solidFill>
                  <a:srgbClr val="FFFFFE"/>
                </a:solidFill>
              </a:rPr>
              <a:t> by ALISTAIR CHUA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5409EC7-69B1-45CC-8FB7-1964C1AB6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5509" y="4666480"/>
            <a:ext cx="6832499" cy="0"/>
          </a:xfrm>
          <a:prstGeom prst="line">
            <a:avLst/>
          </a:prstGeom>
          <a:ln w="31750">
            <a:solidFill>
              <a:srgbClr val="09C4FF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790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C51009-A09A-4689-8E6C-F8FC99E6A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81795-EC44-162B-CEAC-3CC3C190C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973" y="659675"/>
            <a:ext cx="3539266" cy="1489164"/>
          </a:xfrm>
        </p:spPr>
        <p:txBody>
          <a:bodyPr anchor="ctr">
            <a:normAutofit/>
          </a:bodyPr>
          <a:lstStyle/>
          <a:p>
            <a:r>
              <a:rPr lang="en-GB"/>
              <a:t>Background</a:t>
            </a:r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65442-F244-409C-BF44-C5D6472E8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148839"/>
            <a:ext cx="0" cy="320040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45C4C-309D-92CE-3036-E91768B3E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380" y="1490254"/>
            <a:ext cx="6973234" cy="4517570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GB" sz="1700" dirty="0"/>
              <a:t>The price of mobile phones have always been influenced by their hardware specifications.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GB" sz="1700" dirty="0"/>
              <a:t>With each new release introduce many improvements, it is becoming harder to determine how much a mobile phone would cost. </a:t>
            </a:r>
          </a:p>
          <a:p>
            <a:pPr>
              <a:lnSpc>
                <a:spcPct val="110000"/>
              </a:lnSpc>
            </a:pPr>
            <a:r>
              <a:rPr lang="en-GB" sz="1700" dirty="0"/>
              <a:t>With the increase in RAM; battery power; improvement in pixel resolution and many more. Many factors need to be considered to calculate a price.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GB" sz="1700" dirty="0"/>
              <a:t>Being able to utilize previously learnt models: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GB" sz="1700" dirty="0"/>
              <a:t>Generalised Linear Models (GLM)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GB" sz="1700" dirty="0"/>
              <a:t>Decision Trees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GB" sz="1700" dirty="0"/>
              <a:t>Deep Learning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GB" sz="1700" dirty="0"/>
              <a:t>If we can utilize machine learning to aid the introduction of a mobile phone to the market, which could benefit companies in making business decisions.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GB" sz="1700" dirty="0"/>
          </a:p>
          <a:p>
            <a:pPr>
              <a:lnSpc>
                <a:spcPct val="110000"/>
              </a:lnSpc>
            </a:pPr>
            <a:endParaRPr lang="en-GB" sz="1700" dirty="0"/>
          </a:p>
        </p:txBody>
      </p:sp>
      <p:pic>
        <p:nvPicPr>
          <p:cNvPr id="1026" name="Picture 2" descr="Mobile Phone Photos, Download The BEST Free Mobile Phone Stock Photos &amp; HD  Images">
            <a:extLst>
              <a:ext uri="{FF2B5EF4-FFF2-40B4-BE49-F238E27FC236}">
                <a16:creationId xmlns:a16="http://schemas.microsoft.com/office/drawing/2014/main" id="{F9387178-9A97-B114-83CB-3E086BDA77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4" y="2426425"/>
            <a:ext cx="3967842" cy="2645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521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3C748C-967B-4A7B-A90F-3EDD0F485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143637-4934-44E4-B909-BAF1E7B2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4062127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2874B1-1ED5-B238-1E86-AF7C78C82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683" y="1240076"/>
            <a:ext cx="2727813" cy="458452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A1106-CE3C-A0F6-8DA9-49BC4B3AE4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5594" y="1240077"/>
            <a:ext cx="6034827" cy="4916465"/>
          </a:xfrm>
        </p:spPr>
        <p:txBody>
          <a:bodyPr anchor="t">
            <a:normAutofit/>
          </a:bodyPr>
          <a:lstStyle/>
          <a:p>
            <a:r>
              <a:rPr lang="en-GB" b="1" dirty="0"/>
              <a:t>Can we accurately predict the price range of a mobile phone using machine learning only using hardware specifications?</a:t>
            </a:r>
          </a:p>
          <a:p>
            <a:r>
              <a:rPr lang="en-GB" dirty="0"/>
              <a:t>Which machine learning model will perform the best at predicting mobile phone prices?</a:t>
            </a:r>
          </a:p>
          <a:p>
            <a:r>
              <a:rPr lang="en-GB" dirty="0"/>
              <a:t>Which features have the most influence in determining the outcome?</a:t>
            </a:r>
          </a:p>
          <a:p>
            <a:pPr lvl="1"/>
            <a:r>
              <a:rPr lang="en-GB" dirty="0"/>
              <a:t>Any linearity?</a:t>
            </a:r>
          </a:p>
          <a:p>
            <a:pPr lvl="1"/>
            <a:r>
              <a:rPr lang="en-GB" dirty="0"/>
              <a:t>Only one feature or multiple?</a:t>
            </a:r>
          </a:p>
        </p:txBody>
      </p:sp>
    </p:spTree>
    <p:extLst>
      <p:ext uri="{BB962C8B-B14F-4D97-AF65-F5344CB8AC3E}">
        <p14:creationId xmlns:p14="http://schemas.microsoft.com/office/powerpoint/2010/main" val="3860068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2AB74-B919-59BD-787C-20F3819CE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69563-AF24-AAD3-5AF0-D285E0FF3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dataset that will be referenced is a “Mobile Price Classification” dataset</a:t>
            </a:r>
          </a:p>
          <a:p>
            <a:r>
              <a:rPr lang="en-GB" dirty="0"/>
              <a:t>Found from Kaggle, https://www.kaggle.com/datasets/iabhishekofficial/mobile-price-classification/data?select=train.csv</a:t>
            </a:r>
          </a:p>
          <a:p>
            <a:pPr lvl="1"/>
            <a:r>
              <a:rPr lang="en-GB" dirty="0"/>
              <a:t>Contained two datasets “train.csv” and “test.csv”, containing 2000 instances</a:t>
            </a:r>
          </a:p>
          <a:p>
            <a:pPr lvl="2"/>
            <a:r>
              <a:rPr lang="en-GB" dirty="0"/>
              <a:t>Train.csv has 20 predictor variables and 1 target variable</a:t>
            </a:r>
          </a:p>
          <a:p>
            <a:pPr lvl="1"/>
            <a:r>
              <a:rPr lang="en-GB" dirty="0"/>
              <a:t>Only be using “train.csv” because this dataset included a target variable “</a:t>
            </a:r>
            <a:r>
              <a:rPr lang="en-GB" dirty="0" err="1"/>
              <a:t>price_range</a:t>
            </a:r>
            <a:r>
              <a:rPr lang="en-GB" dirty="0"/>
              <a:t>”, this will be what will be used to build predictive models</a:t>
            </a:r>
          </a:p>
          <a:p>
            <a:pPr lvl="1"/>
            <a:r>
              <a:rPr lang="en-GB" dirty="0"/>
              <a:t>Test.csv did not include any target variables so it cannot be used to build a model on.</a:t>
            </a:r>
          </a:p>
          <a:p>
            <a:pPr marL="457200" lvl="1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7453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24E6F-38BE-E210-5461-AB163187D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5ECBD-5EC9-BA61-25A8-5767DAD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Data Preparation</a:t>
            </a:r>
          </a:p>
          <a:p>
            <a:r>
              <a:rPr lang="en-GB" dirty="0"/>
              <a:t>Data Exploration</a:t>
            </a:r>
          </a:p>
          <a:p>
            <a:pPr lvl="1"/>
            <a:r>
              <a:rPr lang="en-GB" dirty="0"/>
              <a:t>Needed to find out which variables are most significant </a:t>
            </a:r>
          </a:p>
          <a:p>
            <a:pPr lvl="1"/>
            <a:r>
              <a:rPr lang="en-GB" dirty="0"/>
              <a:t>Allows ability to know what models can be used</a:t>
            </a:r>
          </a:p>
          <a:p>
            <a:r>
              <a:rPr lang="en-GB" dirty="0"/>
              <a:t>Building the Prediction Models</a:t>
            </a:r>
          </a:p>
          <a:p>
            <a:r>
              <a:rPr lang="en-GB" dirty="0"/>
              <a:t>Evaluating each model</a:t>
            </a:r>
          </a:p>
          <a:p>
            <a:pPr lvl="1"/>
            <a:r>
              <a:rPr lang="en-GB" dirty="0"/>
              <a:t>Confusion matrix for prediction accuracy</a:t>
            </a:r>
          </a:p>
          <a:p>
            <a:pPr lvl="1"/>
            <a:r>
              <a:rPr lang="en-GB" dirty="0"/>
              <a:t>Using cross-validations to avoid overfitting and measure the performance</a:t>
            </a:r>
          </a:p>
        </p:txBody>
      </p:sp>
    </p:spTree>
    <p:extLst>
      <p:ext uri="{BB962C8B-B14F-4D97-AF65-F5344CB8AC3E}">
        <p14:creationId xmlns:p14="http://schemas.microsoft.com/office/powerpoint/2010/main" val="1711047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750EC-642C-DA4B-CFC1-058A7B8BD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676FA-25E6-C14E-8BA3-B8DC692E9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9179" y="1853754"/>
            <a:ext cx="10020754" cy="4157133"/>
          </a:xfrm>
        </p:spPr>
        <p:txBody>
          <a:bodyPr>
            <a:normAutofit/>
          </a:bodyPr>
          <a:lstStyle/>
          <a:p>
            <a:r>
              <a:rPr lang="en-GB" sz="1600" b="1" dirty="0"/>
              <a:t>GLM</a:t>
            </a:r>
          </a:p>
          <a:p>
            <a:pPr lvl="1"/>
            <a:r>
              <a:rPr lang="en-GB" sz="1400" dirty="0"/>
              <a:t>Provides coefficients to observe how each feature contributes to each price tier</a:t>
            </a:r>
          </a:p>
          <a:p>
            <a:pPr lvl="1"/>
            <a:r>
              <a:rPr lang="en-GB" sz="1400" dirty="0"/>
              <a:t>Multinomial Logistic Regression, outcome has more than two categories</a:t>
            </a:r>
          </a:p>
          <a:p>
            <a:r>
              <a:rPr lang="en-GB" sz="1600" b="1" dirty="0"/>
              <a:t>Random Forest</a:t>
            </a:r>
          </a:p>
          <a:p>
            <a:pPr lvl="1"/>
            <a:r>
              <a:rPr lang="en-GB" sz="1400" dirty="0"/>
              <a:t>Variance of Importance plot,  shows the hierarchy of the predictor variables</a:t>
            </a:r>
          </a:p>
          <a:p>
            <a:r>
              <a:rPr lang="en-GB" sz="1600" b="1" dirty="0"/>
              <a:t>Decision Trees</a:t>
            </a:r>
          </a:p>
          <a:p>
            <a:pPr lvl="1"/>
            <a:r>
              <a:rPr lang="en-GB" sz="1400" dirty="0"/>
              <a:t>Presents the decision splits made to determine a price range</a:t>
            </a:r>
          </a:p>
          <a:p>
            <a:r>
              <a:rPr lang="en-GB" sz="1600" b="1" dirty="0"/>
              <a:t>Deep Learning (using Keras)</a:t>
            </a:r>
          </a:p>
          <a:p>
            <a:pPr lvl="1"/>
            <a:r>
              <a:rPr lang="en-GB" sz="1400" dirty="0"/>
              <a:t>A neural network is suitable as they are designed to model the non-linear patterns and make predictions on them</a:t>
            </a:r>
          </a:p>
          <a:p>
            <a:pPr marL="0" indent="0">
              <a:buNone/>
            </a:pPr>
            <a:r>
              <a:rPr lang="en-GB" sz="1600" dirty="0"/>
              <a:t>A confusion matrix for each will be performed to be able to compare the predictive accuracies to observe each model's performance on the dataset.</a:t>
            </a:r>
          </a:p>
        </p:txBody>
      </p:sp>
    </p:spTree>
    <p:extLst>
      <p:ext uri="{BB962C8B-B14F-4D97-AF65-F5344CB8AC3E}">
        <p14:creationId xmlns:p14="http://schemas.microsoft.com/office/powerpoint/2010/main" val="235606492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71</TotalTime>
  <Words>443</Words>
  <Application>Microsoft Office PowerPoint</Application>
  <PresentationFormat>Widescreen</PresentationFormat>
  <Paragraphs>45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Gill Sans MT</vt:lpstr>
      <vt:lpstr>Gallery</vt:lpstr>
      <vt:lpstr>PowerPoint Presentation</vt:lpstr>
      <vt:lpstr>Background</vt:lpstr>
      <vt:lpstr>Research Questions</vt:lpstr>
      <vt:lpstr>Data overview</vt:lpstr>
      <vt:lpstr>Methodology</vt:lpstr>
      <vt:lpstr>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Alistair Chua</dc:creator>
  <cp:lastModifiedBy>Alistair Chua</cp:lastModifiedBy>
  <cp:revision>5</cp:revision>
  <dcterms:created xsi:type="dcterms:W3CDTF">2025-12-11T19:53:52Z</dcterms:created>
  <dcterms:modified xsi:type="dcterms:W3CDTF">2025-12-11T21:04:57Z</dcterms:modified>
</cp:coreProperties>
</file>