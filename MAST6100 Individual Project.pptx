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3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48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3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912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1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3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42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42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32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37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5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66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A1B8B-B9D8-412B-B733-C087B6ACC1CA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455A45B-3B96-4EE7-B6DD-F791BB9CB85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39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EE1B-77FA-69EE-0A28-3543C6882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4000" dirty="0"/>
              <a:t>MAST6100 Project: </a:t>
            </a:r>
            <a:br>
              <a:rPr lang="en-US" sz="4000" dirty="0"/>
            </a:br>
            <a:r>
              <a:rPr lang="en-US" sz="4000" dirty="0"/>
              <a:t>Predicting Mobile Phone Prices using Machine Learning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D0B4D-9332-DB3D-5E52-7E727FB1E8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ALISTAIR CHUA</a:t>
            </a:r>
          </a:p>
        </p:txBody>
      </p:sp>
    </p:spTree>
    <p:extLst>
      <p:ext uri="{BB962C8B-B14F-4D97-AF65-F5344CB8AC3E}">
        <p14:creationId xmlns:p14="http://schemas.microsoft.com/office/powerpoint/2010/main" val="155635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81795-EC44-162B-CEAC-3CC3C190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973" y="659675"/>
            <a:ext cx="3539266" cy="1489164"/>
          </a:xfrm>
        </p:spPr>
        <p:txBody>
          <a:bodyPr anchor="ctr">
            <a:normAutofit/>
          </a:bodyPr>
          <a:lstStyle/>
          <a:p>
            <a:r>
              <a:rPr lang="en-GB"/>
              <a:t>Background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5C4C-309D-92CE-3036-E91768B3E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380" y="796413"/>
            <a:ext cx="6973234" cy="521141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dirty="0"/>
              <a:t>For new companies to step into the mobile phone market, they would need to be informed of the heavy competition surrounding the market.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Being able to name a price on the product is an essential skill.  However, it is not as easy to be able to just make an estimate without any evidence to back it up.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There are many factors that determine how much a phone costs and that will attract a consume. For example, hardware specifications of a mobile phone.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In this analysis, machine learning will be tested on a dataset to see if it is able to produce an estimated price only using data about features of a phone.</a:t>
            </a:r>
          </a:p>
          <a:p>
            <a:pPr>
              <a:lnSpc>
                <a:spcPct val="110000"/>
              </a:lnSpc>
            </a:pPr>
            <a:endParaRPr lang="en-GB" sz="2400" dirty="0"/>
          </a:p>
          <a:p>
            <a:pPr>
              <a:lnSpc>
                <a:spcPct val="110000"/>
              </a:lnSpc>
            </a:pPr>
            <a:endParaRPr lang="en-GB" sz="1700" dirty="0"/>
          </a:p>
        </p:txBody>
      </p:sp>
      <p:pic>
        <p:nvPicPr>
          <p:cNvPr id="1026" name="Picture 2" descr="Mobile Phone Photos, Download The BEST Free Mobile Phone Stock Photos &amp; HD  Images">
            <a:extLst>
              <a:ext uri="{FF2B5EF4-FFF2-40B4-BE49-F238E27FC236}">
                <a16:creationId xmlns:a16="http://schemas.microsoft.com/office/drawing/2014/main" id="{F9387178-9A97-B114-83CB-3E086BDA7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4" y="2426425"/>
            <a:ext cx="3967842" cy="264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52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874B1-1ED5-B238-1E86-AF7C78C8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A1106-CE3C-A0F6-8DA9-49BC4B3A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rmAutofit/>
          </a:bodyPr>
          <a:lstStyle/>
          <a:p>
            <a:r>
              <a:rPr lang="en-GB" b="1" dirty="0"/>
              <a:t>Can we accurately predict the price range of a mobile phone using machine learning only using hardware specifications?</a:t>
            </a:r>
          </a:p>
          <a:p>
            <a:r>
              <a:rPr lang="en-GB" dirty="0"/>
              <a:t>Which machine learning model will perform the best at predicting mobile phone prices?</a:t>
            </a:r>
          </a:p>
          <a:p>
            <a:r>
              <a:rPr lang="en-GB" dirty="0"/>
              <a:t>Which features have the most influence in determining the outcome?</a:t>
            </a:r>
          </a:p>
          <a:p>
            <a:pPr lvl="1"/>
            <a:r>
              <a:rPr lang="en-GB" dirty="0"/>
              <a:t>Any linearity?</a:t>
            </a:r>
          </a:p>
          <a:p>
            <a:pPr lvl="1"/>
            <a:r>
              <a:rPr lang="en-GB" dirty="0"/>
              <a:t>Only one feature or multiple?</a:t>
            </a:r>
          </a:p>
        </p:txBody>
      </p:sp>
    </p:spTree>
    <p:extLst>
      <p:ext uri="{BB962C8B-B14F-4D97-AF65-F5344CB8AC3E}">
        <p14:creationId xmlns:p14="http://schemas.microsoft.com/office/powerpoint/2010/main" val="386006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AB74-B919-59BD-787C-20F3819C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9563-AF24-AAD3-5AF0-D285E0FF3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dataset that will be used is a the “Mobile Price Classification” dataset found from Kaggle</a:t>
            </a:r>
          </a:p>
          <a:p>
            <a:pPr lvl="1"/>
            <a:r>
              <a:rPr lang="en-GB" dirty="0"/>
              <a:t>https://www.kaggle.com/datasets/iabhishekofficial/mobile-price-classification/data?select=train.csv</a:t>
            </a:r>
          </a:p>
          <a:p>
            <a:pPr lvl="1"/>
            <a:r>
              <a:rPr lang="en-GB" dirty="0"/>
              <a:t>Contained two datasets “train.csv” and “test.csv”, containing </a:t>
            </a:r>
            <a:r>
              <a:rPr lang="en-GB"/>
              <a:t>2000 records</a:t>
            </a:r>
            <a:endParaRPr lang="en-GB" dirty="0"/>
          </a:p>
          <a:p>
            <a:pPr lvl="2"/>
            <a:r>
              <a:rPr lang="en-GB" dirty="0"/>
              <a:t>Train.csv has 20 predictor variables and 1 target variable</a:t>
            </a:r>
          </a:p>
          <a:p>
            <a:pPr lvl="1"/>
            <a:r>
              <a:rPr lang="en-GB" dirty="0"/>
              <a:t>Only be using “train.csv” because this dataset included a target variable “</a:t>
            </a:r>
            <a:r>
              <a:rPr lang="en-GB" dirty="0" err="1"/>
              <a:t>price_range</a:t>
            </a:r>
            <a:r>
              <a:rPr lang="en-GB" dirty="0"/>
              <a:t>”, this will be what will be used to build predictive models</a:t>
            </a:r>
          </a:p>
          <a:p>
            <a:pPr lvl="1"/>
            <a:r>
              <a:rPr lang="en-GB" dirty="0"/>
              <a:t>test.csv did not include any target variables so it cannot be used to build a model on.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745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4E6F-38BE-E210-5461-AB163187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ECBD-5EC9-BA61-25A8-5767DAD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Data Preparation</a:t>
            </a:r>
          </a:p>
          <a:p>
            <a:r>
              <a:rPr lang="en-GB" dirty="0"/>
              <a:t>Data Exploration</a:t>
            </a:r>
          </a:p>
          <a:p>
            <a:pPr lvl="1"/>
            <a:r>
              <a:rPr lang="en-GB" dirty="0"/>
              <a:t>Needed to find out which variables are most significant </a:t>
            </a:r>
          </a:p>
          <a:p>
            <a:pPr lvl="1"/>
            <a:r>
              <a:rPr lang="en-GB" dirty="0"/>
              <a:t>Allows ability to know what models can be used</a:t>
            </a:r>
          </a:p>
          <a:p>
            <a:r>
              <a:rPr lang="en-GB" dirty="0"/>
              <a:t>Building the Prediction Models</a:t>
            </a:r>
          </a:p>
          <a:p>
            <a:r>
              <a:rPr lang="en-GB" dirty="0"/>
              <a:t>Evaluating each model</a:t>
            </a:r>
          </a:p>
          <a:p>
            <a:pPr lvl="1"/>
            <a:r>
              <a:rPr lang="en-GB" dirty="0"/>
              <a:t>Confusion matrix for prediction accuracy</a:t>
            </a:r>
          </a:p>
          <a:p>
            <a:pPr lvl="1"/>
            <a:r>
              <a:rPr lang="en-GB" dirty="0"/>
              <a:t>Using cross-validations to avoid overfitting and measure the performance</a:t>
            </a:r>
          </a:p>
        </p:txBody>
      </p:sp>
    </p:spTree>
    <p:extLst>
      <p:ext uri="{BB962C8B-B14F-4D97-AF65-F5344CB8AC3E}">
        <p14:creationId xmlns:p14="http://schemas.microsoft.com/office/powerpoint/2010/main" val="171104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50EC-642C-DA4B-CFC1-058A7B8B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76FA-25E6-C14E-8BA3-B8DC692E9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179" y="1853754"/>
            <a:ext cx="10020754" cy="4157133"/>
          </a:xfrm>
        </p:spPr>
        <p:txBody>
          <a:bodyPr>
            <a:normAutofit/>
          </a:bodyPr>
          <a:lstStyle/>
          <a:p>
            <a:r>
              <a:rPr lang="en-GB" sz="1600" b="1" dirty="0"/>
              <a:t>GLM</a:t>
            </a:r>
          </a:p>
          <a:p>
            <a:pPr lvl="1"/>
            <a:r>
              <a:rPr lang="en-GB" sz="1400" dirty="0"/>
              <a:t>Provides coefficients to observe how each feature contributes to each price tier</a:t>
            </a:r>
          </a:p>
          <a:p>
            <a:pPr lvl="1"/>
            <a:r>
              <a:rPr lang="en-GB" sz="1400" dirty="0"/>
              <a:t>Multinomial Logistic Regression, outcome has more than two categories</a:t>
            </a:r>
          </a:p>
          <a:p>
            <a:r>
              <a:rPr lang="en-GB" sz="1600" b="1" dirty="0"/>
              <a:t>Random Forest</a:t>
            </a:r>
          </a:p>
          <a:p>
            <a:pPr lvl="1"/>
            <a:r>
              <a:rPr lang="en-GB" sz="1400" dirty="0"/>
              <a:t>Variance of Importance plot,  shows the hierarchy of the predictor variables</a:t>
            </a:r>
          </a:p>
          <a:p>
            <a:r>
              <a:rPr lang="en-GB" sz="1600" b="1" dirty="0"/>
              <a:t>Decision Trees</a:t>
            </a:r>
          </a:p>
          <a:p>
            <a:pPr lvl="1"/>
            <a:r>
              <a:rPr lang="en-GB" sz="1400" dirty="0"/>
              <a:t>Presents the decision splits made to determine a price range</a:t>
            </a:r>
          </a:p>
          <a:p>
            <a:r>
              <a:rPr lang="en-GB" sz="1600" b="1" dirty="0"/>
              <a:t>Deep Learning (using Keras)</a:t>
            </a:r>
          </a:p>
          <a:p>
            <a:pPr lvl="1"/>
            <a:r>
              <a:rPr lang="en-GB" sz="1400" dirty="0"/>
              <a:t>A neural network is suitable as they are designed to model the non-linear patterns and make predictions on them</a:t>
            </a:r>
          </a:p>
          <a:p>
            <a:pPr marL="0" indent="0">
              <a:buNone/>
            </a:pPr>
            <a:r>
              <a:rPr lang="en-GB" sz="1600" dirty="0"/>
              <a:t>A confusion matrix for each will be performed to be able to compare the predictive accuracies to observe each model's performance on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3560649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91</TotalTime>
  <Words>457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MAST6100 Project:  Predicting Mobile Phone Prices using Machine Learning</vt:lpstr>
      <vt:lpstr>Background</vt:lpstr>
      <vt:lpstr>Research Questions</vt:lpstr>
      <vt:lpstr>Data overview</vt:lpstr>
      <vt:lpstr>Methodology</vt:lpstr>
      <vt:lpstr>MODELS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Alistair Chua</dc:creator>
  <cp:lastModifiedBy>Alistair Chua</cp:lastModifiedBy>
  <cp:revision>6</cp:revision>
  <dcterms:created xsi:type="dcterms:W3CDTF">2025-12-11T19:53:52Z</dcterms:created>
  <dcterms:modified xsi:type="dcterms:W3CDTF">2025-12-11T23:44:10Z</dcterms:modified>
</cp:coreProperties>
</file>